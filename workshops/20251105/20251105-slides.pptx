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Playfair Display"/>
      <p:regular r:id="rId28"/>
      <p:bold r:id="rId29"/>
      <p:italic r:id="rId30"/>
      <p:boldItalic r:id="rId31"/>
    </p:embeddedFont>
    <p:embeddedFont>
      <p:font typeface="Nunito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Helvetica Neue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Emily Griffith"/>
  <p:cmAuthor clrIdx="1" id="1" initials="" lastIdx="1" name="John Slank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regular.fntdata"/><Relationship Id="rId20" Type="http://schemas.openxmlformats.org/officeDocument/2006/relationships/slide" Target="slides/slide14.xml"/><Relationship Id="rId42" Type="http://schemas.openxmlformats.org/officeDocument/2006/relationships/font" Target="fonts/HelveticaNeue-italic.fntdata"/><Relationship Id="rId41" Type="http://schemas.openxmlformats.org/officeDocument/2006/relationships/font" Target="fonts/HelveticaNeue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HelveticaNeue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fairDispl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11" Type="http://schemas.openxmlformats.org/officeDocument/2006/relationships/slide" Target="slides/slide5.xml"/><Relationship Id="rId33" Type="http://schemas.openxmlformats.org/officeDocument/2006/relationships/font" Target="fonts/Nunito-bold.fntdata"/><Relationship Id="rId10" Type="http://schemas.openxmlformats.org/officeDocument/2006/relationships/slide" Target="slides/slide4.xml"/><Relationship Id="rId32" Type="http://schemas.openxmlformats.org/officeDocument/2006/relationships/font" Target="fonts/Nunito-regular.fntdata"/><Relationship Id="rId13" Type="http://schemas.openxmlformats.org/officeDocument/2006/relationships/slide" Target="slides/slide7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6.xml"/><Relationship Id="rId34" Type="http://schemas.openxmlformats.org/officeDocument/2006/relationships/font" Target="fonts/Nunito-italic.fntdata"/><Relationship Id="rId15" Type="http://schemas.openxmlformats.org/officeDocument/2006/relationships/slide" Target="slides/slide9.xml"/><Relationship Id="rId37" Type="http://schemas.openxmlformats.org/officeDocument/2006/relationships/font" Target="fonts/Lato-bold.fntdata"/><Relationship Id="rId14" Type="http://schemas.openxmlformats.org/officeDocument/2006/relationships/slide" Target="slides/slide8.xml"/><Relationship Id="rId36" Type="http://schemas.openxmlformats.org/officeDocument/2006/relationships/font" Target="fonts/Lato-regular.fntdata"/><Relationship Id="rId17" Type="http://schemas.openxmlformats.org/officeDocument/2006/relationships/slide" Target="slides/slide11.xml"/><Relationship Id="rId39" Type="http://schemas.openxmlformats.org/officeDocument/2006/relationships/font" Target="fonts/Lato-boldItalic.fntdata"/><Relationship Id="rId16" Type="http://schemas.openxmlformats.org/officeDocument/2006/relationships/slide" Target="slides/slide10.xml"/><Relationship Id="rId38" Type="http://schemas.openxmlformats.org/officeDocument/2006/relationships/font" Target="fonts/La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0-22T15:53:20.123">
    <p:pos x="1239" y="1403"/>
    <p:text>Add QR code to download relevant files?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5-10-23T18:49:03.668">
    <p:pos x="1239" y="541"/>
    <p:text>Needs a supporting graphic, or we can refer back to specific slides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Graphical representation of information and data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See and understand trends, outliers, and patterns in data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df8e257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df8e257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df8e2573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df8e2573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220dc4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c220dc4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df8e2573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df8e2573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e2713fa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e2713fa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Florance Nightgale</a:t>
            </a: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Crimean War 1853-1858</a:t>
            </a:r>
            <a:br>
              <a:rPr b="1" lang="en">
                <a:solidFill>
                  <a:schemeClr val="dk1"/>
                </a:solidFill>
              </a:rPr>
            </a:br>
            <a:br>
              <a:rPr b="1"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polar area chart</a:t>
            </a:r>
            <a:r>
              <a:rPr lang="en">
                <a:solidFill>
                  <a:schemeClr val="dk1"/>
                </a:solidFill>
              </a:rPr>
              <a:t>—a circular graph divided into 12 sectors, one for each month.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Each sector represents </a:t>
            </a:r>
            <a:r>
              <a:rPr b="1" lang="en">
                <a:solidFill>
                  <a:schemeClr val="dk1"/>
                </a:solidFill>
              </a:rPr>
              <a:t>the number of deaths</a:t>
            </a:r>
            <a:r>
              <a:rPr lang="en">
                <a:solidFill>
                  <a:schemeClr val="dk1"/>
                </a:solidFill>
              </a:rPr>
              <a:t> in that month, with the </a:t>
            </a:r>
            <a:r>
              <a:rPr b="1" lang="en">
                <a:solidFill>
                  <a:schemeClr val="dk1"/>
                </a:solidFill>
              </a:rPr>
              <a:t>area (not radius)</a:t>
            </a:r>
            <a:r>
              <a:rPr lang="en">
                <a:solidFill>
                  <a:schemeClr val="dk1"/>
                </a:solidFill>
              </a:rPr>
              <a:t> of the sector proportional to the mortality.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She used </a:t>
            </a:r>
            <a:r>
              <a:rPr b="1" lang="en">
                <a:solidFill>
                  <a:schemeClr val="dk1"/>
                </a:solidFill>
              </a:rPr>
              <a:t>different colors</a:t>
            </a:r>
            <a:r>
              <a:rPr lang="en">
                <a:solidFill>
                  <a:schemeClr val="dk1"/>
                </a:solidFill>
              </a:rPr>
              <a:t> to distinguish causes of death: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Blue</a:t>
            </a:r>
            <a:r>
              <a:rPr lang="en">
                <a:solidFill>
                  <a:schemeClr val="dk1"/>
                </a:solidFill>
              </a:rPr>
              <a:t> for deaths from </a:t>
            </a:r>
            <a:r>
              <a:rPr b="1" lang="en">
                <a:solidFill>
                  <a:schemeClr val="dk1"/>
                </a:solidFill>
              </a:rPr>
              <a:t>preventable or infectious diseases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Red</a:t>
            </a:r>
            <a:r>
              <a:rPr lang="en">
                <a:solidFill>
                  <a:schemeClr val="dk1"/>
                </a:solidFill>
              </a:rPr>
              <a:t> for deaths from </a:t>
            </a:r>
            <a:r>
              <a:rPr b="1" lang="en">
                <a:solidFill>
                  <a:schemeClr val="dk1"/>
                </a:solidFill>
              </a:rPr>
              <a:t>wounds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Black</a:t>
            </a:r>
            <a:r>
              <a:rPr lang="en">
                <a:solidFill>
                  <a:schemeClr val="dk1"/>
                </a:solidFill>
              </a:rPr>
              <a:t> for deaths from </a:t>
            </a:r>
            <a:r>
              <a:rPr b="1" lang="en">
                <a:solidFill>
                  <a:schemeClr val="dk1"/>
                </a:solidFill>
              </a:rPr>
              <a:t>other causes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Because the area increases with the square of the radius, large blue sections dramatically emphasize the overwhelming number of deaths from disease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in the first year of the war, </a:t>
            </a:r>
            <a:r>
              <a:rPr b="1" lang="en">
                <a:solidFill>
                  <a:schemeClr val="dk1"/>
                </a:solidFill>
              </a:rPr>
              <a:t>disease accounted for more than seven times as many deaths as battle injuries</a:t>
            </a:r>
            <a:r>
              <a:rPr lang="en">
                <a:solidFill>
                  <a:schemeClr val="dk1"/>
                </a:solidFill>
              </a:rPr>
              <a:t>. After sanitary reforms were implemented—improved ventilation, sewage, and clean water—the number of deaths from disease dropped sharply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df8e2573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df8e2573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333333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Lung cancer for white male - 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High lung cancer death rates 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c8171022d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c8171022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c8171022d_5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c8171022d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df8e2573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df8e2573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– viewer driven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Communicate – explain.  Editorally / creator driven.  The person who created this visualization is largely dictating the message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Often, you’ll hear this referred to as exploratory and explanatory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performed throughout the process seeks to understand what’s in the data.  Generate tons of graphs quickly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Explanatory communicates the data to others.  Refined.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= individual contributor, explanatory -&gt; impacting others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df8e2573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df8e2573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df8e2573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df8e2573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df8e2573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df8e2573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df8e2573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df8e2573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e2713fa5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e2713fa5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c8171022d_5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c8171022d_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c8171022d_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c8171022d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aesthetics</a:t>
            </a:r>
            <a:r>
              <a:rPr lang="en">
                <a:solidFill>
                  <a:schemeClr val="dk1"/>
                </a:solidFill>
              </a:rPr>
              <a:t> are the visual properties you use to </a:t>
            </a:r>
            <a:r>
              <a:rPr b="1" lang="en">
                <a:solidFill>
                  <a:schemeClr val="dk1"/>
                </a:solidFill>
              </a:rPr>
              <a:t>encode data values</a:t>
            </a:r>
            <a:r>
              <a:rPr lang="en">
                <a:solidFill>
                  <a:schemeClr val="dk1"/>
                </a:solidFill>
              </a:rPr>
              <a:t>—the channels through which numbers/categories become perceivable patterns.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df8e2573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df8e2573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e2713fa5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e2713fa5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df8e2573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8df8e2573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e2713fa5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9e2713fa5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2289975" y="1207600"/>
            <a:ext cx="15099600" cy="8349000"/>
          </a:xfrm>
          <a:prstGeom prst="rect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15925" y="1995750"/>
            <a:ext cx="13399800" cy="3168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None/>
              <a:defRPr b="0" sz="65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215925" y="6284150"/>
            <a:ext cx="13399800" cy="1402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600"/>
              <a:buNone/>
              <a:defRPr sz="46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384650" y="1139350"/>
            <a:ext cx="1404300" cy="85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2357875" y="2847750"/>
            <a:ext cx="14910900" cy="3596400"/>
          </a:xfrm>
          <a:prstGeom prst="rect">
            <a:avLst/>
          </a:prstGeom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b="0" sz="8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84650" y="1139350"/>
            <a:ext cx="1404300" cy="85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384650" y="1139350"/>
            <a:ext cx="1404300" cy="85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1967950" y="2228750"/>
            <a:ext cx="7213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10299000" y="2228750"/>
            <a:ext cx="7213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384650" y="1139350"/>
            <a:ext cx="1404300" cy="85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23400" y="22287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 rtl="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 rtl="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 rtl="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 rtl="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 rtl="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 rtl="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664800" y="22287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 rtl="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 rtl="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 rtl="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 rtl="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 rtl="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 rtl="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71000" y="12636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623400" y="2782755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980500" y="1052700"/>
            <a:ext cx="112374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0" sz="9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9144000" y="-50"/>
            <a:ext cx="9144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10"/>
          <p:cNvCxnSpPr/>
          <p:nvPr/>
        </p:nvCxnSpPr>
        <p:spPr>
          <a:xfrm>
            <a:off x="10059350" y="8991000"/>
            <a:ext cx="936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0"/>
          <p:cNvSpPr txBox="1"/>
          <p:nvPr>
            <p:ph type="title"/>
          </p:nvPr>
        </p:nvSpPr>
        <p:spPr>
          <a:xfrm>
            <a:off x="531000" y="2215900"/>
            <a:ext cx="8090400" cy="3367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531000" y="5690402"/>
            <a:ext cx="8090400" cy="269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  <a:defRPr>
                <a:solidFill>
                  <a:schemeClr val="lt1"/>
                </a:solidFill>
              </a:defRPr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○"/>
              <a:defRPr>
                <a:solidFill>
                  <a:schemeClr val="lt1"/>
                </a:solidFill>
              </a:defRPr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■"/>
              <a:defRPr>
                <a:solidFill>
                  <a:schemeClr val="lt1"/>
                </a:solidFill>
              </a:defRPr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  <a:defRPr>
                <a:solidFill>
                  <a:schemeClr val="lt1"/>
                </a:solidFill>
              </a:defRPr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○"/>
              <a:defRPr>
                <a:solidFill>
                  <a:schemeClr val="lt1"/>
                </a:solidFill>
              </a:defRPr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■"/>
              <a:defRPr>
                <a:solidFill>
                  <a:schemeClr val="lt1"/>
                </a:solidFill>
              </a:defRPr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  <a:defRPr>
                <a:solidFill>
                  <a:schemeClr val="lt1"/>
                </a:solidFill>
              </a:defRPr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○"/>
              <a:defRPr>
                <a:solidFill>
                  <a:schemeClr val="lt1"/>
                </a:solidFill>
              </a:defRPr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Clr>
                <a:schemeClr val="lt1"/>
              </a:buClr>
              <a:buSzPts val="3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 sz="2600">
                <a:solidFill>
                  <a:schemeClr val="lt1"/>
                </a:solidFill>
              </a:defRPr>
            </a:lvl1pPr>
            <a:lvl2pPr lvl="1">
              <a:buNone/>
              <a:defRPr sz="2600">
                <a:solidFill>
                  <a:schemeClr val="lt1"/>
                </a:solidFill>
              </a:defRPr>
            </a:lvl2pPr>
            <a:lvl3pPr lvl="2">
              <a:buNone/>
              <a:defRPr sz="2600">
                <a:solidFill>
                  <a:schemeClr val="lt1"/>
                </a:solidFill>
              </a:defRPr>
            </a:lvl3pPr>
            <a:lvl4pPr lvl="3">
              <a:buNone/>
              <a:defRPr sz="2600">
                <a:solidFill>
                  <a:schemeClr val="lt1"/>
                </a:solidFill>
              </a:defRPr>
            </a:lvl4pPr>
            <a:lvl5pPr lvl="4">
              <a:buNone/>
              <a:defRPr sz="2600">
                <a:solidFill>
                  <a:schemeClr val="lt1"/>
                </a:solidFill>
              </a:defRPr>
            </a:lvl5pPr>
            <a:lvl6pPr lvl="5">
              <a:buNone/>
              <a:defRPr sz="2600">
                <a:solidFill>
                  <a:schemeClr val="lt1"/>
                </a:solidFill>
              </a:defRPr>
            </a:lvl6pPr>
            <a:lvl7pPr lvl="6">
              <a:buNone/>
              <a:defRPr sz="2600">
                <a:solidFill>
                  <a:schemeClr val="lt1"/>
                </a:solidFill>
              </a:defRPr>
            </a:lvl7pPr>
            <a:lvl8pPr lvl="7">
              <a:buNone/>
              <a:defRPr sz="2600">
                <a:solidFill>
                  <a:schemeClr val="lt1"/>
                </a:solidFill>
              </a:defRPr>
            </a:lvl8pPr>
            <a:lvl9pPr lvl="8">
              <a:buNone/>
              <a:defRPr sz="26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639000" y="8461150"/>
            <a:ext cx="11997600" cy="1197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>
                <a:solidFill>
                  <a:srgbClr val="000000"/>
                </a:solidFill>
              </a:defRPr>
            </a:lvl1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/>
          <p:nvPr/>
        </p:nvSpPr>
        <p:spPr>
          <a:xfrm>
            <a:off x="0" y="10091400"/>
            <a:ext cx="18288000" cy="19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623400" y="2466200"/>
            <a:ext cx="17041200" cy="3220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623400" y="5838900"/>
            <a:ext cx="17041200" cy="214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50850" lvl="1" marL="9144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indent="-450850" lvl="2" marL="137160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indent="-450850" lvl="3" marL="182880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indent="-450850" lvl="4" marL="22860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indent="-450850" lvl="5" marL="274320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indent="-450850" lvl="6" marL="320040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indent="-450850" lvl="7" marL="36576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indent="-450850" lvl="8" marL="4114800" algn="ctr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1028700" y="351581"/>
            <a:ext cx="16116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028700" y="2170254"/>
            <a:ext cx="16116300" cy="6866592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>
            <a:lvl1pPr indent="-40005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  <a:defRPr sz="2100"/>
            </a:lvl1pPr>
            <a:lvl2pPr indent="-400050" lvl="1" marL="914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  <a:defRPr sz="2100"/>
            </a:lvl2pPr>
            <a:lvl3pPr indent="-400050" lvl="2" marL="1371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  <a:defRPr sz="2100"/>
            </a:lvl3pPr>
            <a:lvl4pPr indent="-400050" lvl="3" marL="18288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  <a:defRPr sz="2100"/>
            </a:lvl4pPr>
            <a:lvl5pPr indent="-400050" lvl="4" marL="22860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  <a:defRPr sz="2100"/>
            </a:lvl5pPr>
            <a:lvl6pPr indent="-400050" lvl="5" marL="27432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700"/>
              <a:buChar char="■"/>
              <a:defRPr sz="2100"/>
            </a:lvl6pPr>
            <a:lvl7pPr indent="-400050" lvl="6" marL="32004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  <a:defRPr sz="2100"/>
            </a:lvl7pPr>
            <a:lvl8pPr indent="-400050" lvl="7" marL="3657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  <a:defRPr sz="2100"/>
            </a:lvl8pPr>
            <a:lvl9pPr indent="-400050" lvl="8" marL="4114800" algn="l">
              <a:lnSpc>
                <a:spcPct val="90000"/>
              </a:lnSpc>
              <a:spcBef>
                <a:spcPts val="3200"/>
              </a:spcBef>
              <a:spcAft>
                <a:spcPts val="3200"/>
              </a:spcAft>
              <a:buClr>
                <a:schemeClr val="dk1"/>
              </a:buClr>
              <a:buSzPts val="2700"/>
              <a:buChar char="■"/>
              <a:defRPr sz="2100"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12915900" y="9534525"/>
            <a:ext cx="42291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2100"/>
            </a:lvl1pPr>
            <a:lvl2pPr indent="0" lvl="1" marL="0" algn="r">
              <a:spcBef>
                <a:spcPts val="0"/>
              </a:spcBef>
              <a:buNone/>
              <a:defRPr sz="2100"/>
            </a:lvl2pPr>
            <a:lvl3pPr indent="0" lvl="2" marL="0" algn="r">
              <a:spcBef>
                <a:spcPts val="0"/>
              </a:spcBef>
              <a:buNone/>
              <a:defRPr sz="2100"/>
            </a:lvl3pPr>
            <a:lvl4pPr indent="0" lvl="3" marL="0" algn="r">
              <a:spcBef>
                <a:spcPts val="0"/>
              </a:spcBef>
              <a:buNone/>
              <a:defRPr sz="2100"/>
            </a:lvl4pPr>
            <a:lvl5pPr indent="0" lvl="4" marL="0" algn="r">
              <a:spcBef>
                <a:spcPts val="0"/>
              </a:spcBef>
              <a:buNone/>
              <a:defRPr sz="2100"/>
            </a:lvl5pPr>
            <a:lvl6pPr indent="0" lvl="5" marL="0" algn="r">
              <a:spcBef>
                <a:spcPts val="0"/>
              </a:spcBef>
              <a:buNone/>
              <a:defRPr sz="2100"/>
            </a:lvl6pPr>
            <a:lvl7pPr indent="0" lvl="6" marL="0" algn="r">
              <a:spcBef>
                <a:spcPts val="0"/>
              </a:spcBef>
              <a:buNone/>
              <a:defRPr sz="2100"/>
            </a:lvl7pPr>
            <a:lvl8pPr indent="0" lvl="7" marL="0" algn="r">
              <a:spcBef>
                <a:spcPts val="0"/>
              </a:spcBef>
              <a:buNone/>
              <a:defRPr sz="2100"/>
            </a:lvl8pPr>
            <a:lvl9pPr indent="0" lvl="8" marL="0" algn="r">
              <a:spcBef>
                <a:spcPts val="0"/>
              </a:spcBef>
              <a:buNone/>
              <a:defRPr sz="2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8700" y="9601200"/>
            <a:ext cx="3771900" cy="44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9601200"/>
            <a:ext cx="3771900" cy="44012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>
            <p:ph idx="11" type="ftr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1pPr>
            <a:lvl2pPr indent="-45085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2pPr>
            <a:lvl3pPr indent="-45085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3pPr>
            <a:lvl4pPr indent="-45085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4pPr>
            <a:lvl5pPr indent="-45085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5pPr>
            <a:lvl6pPr indent="-45085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6pPr>
            <a:lvl7pPr indent="-45085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7pPr>
            <a:lvl8pPr indent="-45085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8pPr>
            <a:lvl9pPr indent="-45085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buNone/>
              <a:defRPr sz="2600"/>
            </a:lvl1pPr>
            <a:lvl2pPr lvl="1" algn="r">
              <a:buNone/>
              <a:defRPr sz="2600"/>
            </a:lvl2pPr>
            <a:lvl3pPr lvl="2" algn="r">
              <a:buNone/>
              <a:defRPr sz="2600"/>
            </a:lvl3pPr>
            <a:lvl4pPr lvl="3" algn="r">
              <a:buNone/>
              <a:defRPr sz="2600"/>
            </a:lvl4pPr>
            <a:lvl5pPr lvl="4" algn="r">
              <a:buNone/>
              <a:defRPr sz="2600"/>
            </a:lvl5pPr>
            <a:lvl6pPr lvl="5" algn="r">
              <a:buNone/>
              <a:defRPr sz="2600"/>
            </a:lvl6pPr>
            <a:lvl7pPr lvl="6" algn="r">
              <a:buNone/>
              <a:defRPr sz="2600"/>
            </a:lvl7pPr>
            <a:lvl8pPr lvl="7" algn="r">
              <a:buNone/>
              <a:defRPr sz="2600"/>
            </a:lvl8pPr>
            <a:lvl9pPr lvl="8" algn="r">
              <a:buNone/>
              <a:defRPr sz="2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94800" y="194150"/>
            <a:ext cx="1403199" cy="675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hyperlink" Target="https://www.cdc.gov/nchs/products/other/atlas/lcwm.ht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extremepresentation.com/wp-content/uploads/choosing-a-good-chart-09-1.pdf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2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atavizcatalogue.com/" TargetMode="External"/><Relationship Id="rId4" Type="http://schemas.openxmlformats.org/officeDocument/2006/relationships/hyperlink" Target="https://datavizcatalogue.com/" TargetMode="External"/><Relationship Id="rId5" Type="http://schemas.openxmlformats.org/officeDocument/2006/relationships/hyperlink" Target="https://flowingdata.com/" TargetMode="External"/><Relationship Id="rId6" Type="http://schemas.openxmlformats.org/officeDocument/2006/relationships/hyperlink" Target="https://informationisbeautiful.net/" TargetMode="External"/><Relationship Id="rId7" Type="http://schemas.openxmlformats.org/officeDocument/2006/relationships/hyperlink" Target="https://ggplot2.tidyverse.org/" TargetMode="External"/><Relationship Id="rId8" Type="http://schemas.openxmlformats.org/officeDocument/2006/relationships/hyperlink" Target="https://python-graph-gallery.com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3215925" y="1995750"/>
            <a:ext cx="13399800" cy="3168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Data Visualization </a:t>
            </a:r>
            <a:br>
              <a:rPr lang="en"/>
            </a:br>
            <a:r>
              <a:rPr lang="en"/>
              <a:t>in R and Python</a:t>
            </a:r>
            <a:endParaRPr/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3134850" y="6187400"/>
            <a:ext cx="13399800" cy="2543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Wednesday, Nov 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Workshop: noon to 1p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coding session: 1p to 2p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Welcome and introduction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Sample dataset overview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Introduction to visualization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Types of and motivations for plots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Exploratory data analysis with visualization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Communicating time series and longitudinal perspectives using visualization</a:t>
            </a:r>
            <a:endParaRPr/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we are:</a:t>
            </a:r>
            <a:endParaRPr/>
          </a:p>
          <a:p>
            <a:pPr indent="-450850" lvl="0" marL="457200" rtl="0" algn="l">
              <a:spcBef>
                <a:spcPts val="320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Emily Griffith</a:t>
            </a:r>
            <a:br>
              <a:rPr lang="en"/>
            </a:br>
            <a:r>
              <a:rPr lang="en"/>
              <a:t>Professor of the Practice, Department of Statistics</a:t>
            </a:r>
            <a:br>
              <a:rPr lang="en"/>
            </a:br>
            <a:r>
              <a:rPr lang="en"/>
              <a:t>Director of Consulting, Data Science and AI Academy, NC State</a:t>
            </a:r>
            <a:br>
              <a:rPr lang="en"/>
            </a:b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John Slankas</a:t>
            </a:r>
            <a:br>
              <a:rPr lang="en"/>
            </a:br>
            <a:r>
              <a:rPr lang="en"/>
              <a:t>Senior Research Scholar, Laboratory for Analytic Sciences, NC State</a:t>
            </a:r>
            <a:endParaRPr/>
          </a:p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rPr lang="en"/>
              <a:t>We manage a subaward from NC TraCS to help provide support for clinical research using data science </a:t>
            </a:r>
            <a:r>
              <a:rPr lang="en"/>
              <a:t>techniques</a:t>
            </a:r>
            <a:r>
              <a:rPr lang="en"/>
              <a:t>. 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E,J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goals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We will </a:t>
            </a:r>
            <a:r>
              <a:rPr lang="en"/>
              <a:t>review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Introduction to visualization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Types of and motivations for plots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Exploratory data analysis with visualization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Communicating time series and longitudinal perspectives using visualization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At 1p, we will have open coding hours for you to stay and work if you’d like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We are using the same dataset for all examples, and code is available for you in R and Python</a:t>
            </a:r>
            <a:endParaRPr/>
          </a:p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data set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using a sample data set for all coding exercises so we can all look at the same examples.</a:t>
            </a:r>
            <a:endParaRPr/>
          </a:p>
          <a:p>
            <a:pPr indent="-450850" lvl="0" marL="457200" rtl="0" algn="l">
              <a:spcBef>
                <a:spcPts val="320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Length</a:t>
            </a:r>
            <a:r>
              <a:rPr lang="en"/>
              <a:t> of inpatient and non-outpatient hospital stay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Blood pressure (diastolic and systolic)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Sex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Oxygen Saturation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Respiratory Rate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Age at visit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And more!</a:t>
            </a:r>
            <a:endParaRPr/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data visualization?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1967950" y="2228750"/>
            <a:ext cx="5606100" cy="72543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Graphical </a:t>
            </a:r>
            <a:r>
              <a:rPr lang="en"/>
              <a:t>representation</a:t>
            </a:r>
            <a:r>
              <a:rPr lang="en"/>
              <a:t> of information and data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Helps you see and understand trends, outliers, and patterns in data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Often supplemental to statistical analysis</a:t>
            </a:r>
            <a:endParaRPr/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ttps://upload.wikimedia.org/wikipedia/commons/1/17/Nightingale-mortality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3182" y="2332083"/>
            <a:ext cx="9614554" cy="604137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J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visualize your data?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00000"/>
                </a:solidFill>
              </a:rPr>
              <a:t>•Answer questions</a:t>
            </a:r>
            <a:endParaRPr sz="4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00000"/>
                </a:solidFill>
              </a:rPr>
              <a:t>•Make decisions</a:t>
            </a:r>
            <a:endParaRPr sz="4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00000"/>
                </a:solidFill>
              </a:rPr>
              <a:t>•Find patterns</a:t>
            </a:r>
            <a:endParaRPr sz="4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00000"/>
                </a:solidFill>
              </a:rPr>
              <a:t>•Present argument</a:t>
            </a:r>
            <a:endParaRPr sz="4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00000"/>
                </a:solidFill>
              </a:rPr>
              <a:t>•Tell a story</a:t>
            </a:r>
            <a:endParaRPr sz="4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00000"/>
                </a:solidFill>
              </a:rPr>
              <a:t>•Inspire</a:t>
            </a:r>
            <a:endParaRPr sz="5600"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6212" y="2310700"/>
            <a:ext cx="9749750" cy="66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9847850" y="9179200"/>
            <a:ext cx="79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https://www.cdc.gov/nchs/products/other/atlas/lcwm.htm</a:t>
            </a:r>
            <a:endParaRPr u="sng">
              <a:solidFill>
                <a:schemeClr val="hlink"/>
              </a:solidFill>
            </a:endParaRPr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J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1967950" y="387925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Why visualize your data?</a:t>
            </a:r>
            <a:br>
              <a:rPr lang="en" sz="6300"/>
            </a:br>
            <a:r>
              <a:rPr lang="en" sz="6300"/>
              <a:t>Anscombe 1973</a:t>
            </a:r>
            <a:endParaRPr sz="6300"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3150" y="3149275"/>
            <a:ext cx="6917649" cy="41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7000" y="3149275"/>
            <a:ext cx="6978652" cy="41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2395225" y="8449200"/>
            <a:ext cx="11797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434343"/>
                </a:solidFill>
              </a:rPr>
              <a:t>These four data sets have the same summary statistics!</a:t>
            </a:r>
            <a:endParaRPr sz="3500">
              <a:solidFill>
                <a:srgbClr val="434343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7414" y="2321000"/>
            <a:ext cx="9127096" cy="373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7414" y="6058050"/>
            <a:ext cx="9127102" cy="3851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>
            <p:ph type="title"/>
          </p:nvPr>
        </p:nvSpPr>
        <p:spPr>
          <a:xfrm>
            <a:off x="1967950" y="387925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Why visualize your data?</a:t>
            </a:r>
            <a:br>
              <a:rPr lang="en" sz="6300"/>
            </a:br>
            <a:r>
              <a:rPr lang="en" sz="6300"/>
              <a:t>Anscombe 1973</a:t>
            </a:r>
            <a:endParaRPr sz="6300"/>
          </a:p>
        </p:txBody>
      </p:sp>
      <p:sp>
        <p:nvSpPr>
          <p:cNvPr id="145" name="Google Shape;145;p23"/>
          <p:cNvSpPr txBox="1"/>
          <p:nvPr/>
        </p:nvSpPr>
        <p:spPr>
          <a:xfrm>
            <a:off x="13107900" y="2672250"/>
            <a:ext cx="3699300" cy="24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434343"/>
                </a:solidFill>
              </a:rPr>
              <a:t>The differences between datasets are easy to see when visualized!</a:t>
            </a:r>
            <a:endParaRPr sz="3500">
              <a:solidFill>
                <a:srgbClr val="434343"/>
              </a:solidFill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1787125" y="858900"/>
            <a:ext cx="16185600" cy="2127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Motivation for Visualization:</a:t>
            </a:r>
            <a:endParaRPr sz="6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Exploratory vs. Explanatory</a:t>
            </a:r>
            <a:endParaRPr sz="6300"/>
          </a:p>
        </p:txBody>
      </p:sp>
      <p:sp>
        <p:nvSpPr>
          <p:cNvPr id="152" name="Google Shape;152;p24"/>
          <p:cNvSpPr txBox="1"/>
          <p:nvPr/>
        </p:nvSpPr>
        <p:spPr>
          <a:xfrm>
            <a:off x="2361514" y="3464337"/>
            <a:ext cx="6277200" cy="3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Exploratory</a:t>
            </a:r>
            <a:endParaRPr sz="46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Explore the data</a:t>
            </a:r>
            <a:endParaRPr sz="36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Assess a situation</a:t>
            </a:r>
            <a:endParaRPr sz="36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Determine how to proceed</a:t>
            </a:r>
            <a:endParaRPr sz="36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Decide what to do</a:t>
            </a:r>
            <a:endParaRPr sz="3600"/>
          </a:p>
        </p:txBody>
      </p:sp>
      <p:sp>
        <p:nvSpPr>
          <p:cNvPr id="153" name="Google Shape;153;p24"/>
          <p:cNvSpPr txBox="1"/>
          <p:nvPr/>
        </p:nvSpPr>
        <p:spPr>
          <a:xfrm>
            <a:off x="9895425" y="3464337"/>
            <a:ext cx="7104000" cy="3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Explanatory</a:t>
            </a:r>
            <a:endParaRPr sz="46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Present data and ideas</a:t>
            </a:r>
            <a:endParaRPr sz="36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Explain and inform</a:t>
            </a:r>
            <a:endParaRPr sz="36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Provide evidence and support</a:t>
            </a:r>
            <a:endParaRPr sz="3600"/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Influence and persuade</a:t>
            </a:r>
            <a:endParaRPr sz="3600"/>
          </a:p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J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aside: What is Exploratory Data Analysis?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1967950" y="2996575"/>
            <a:ext cx="15696600" cy="63951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Important first step in ANY data </a:t>
            </a:r>
            <a:r>
              <a:rPr lang="en"/>
              <a:t>analysis</a:t>
            </a:r>
            <a:r>
              <a:rPr lang="en"/>
              <a:t> project!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Used to answer these questions: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What do your data look like?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Do the values make sense?</a:t>
            </a:r>
            <a:br>
              <a:rPr lang="en"/>
            </a:br>
            <a:r>
              <a:rPr lang="en"/>
              <a:t>	- Can you look into the values that don’t make sense?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Do you see any patterns?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Is there missing data? 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Are there data in all the categories you have? </a:t>
            </a:r>
            <a:br>
              <a:rPr lang="en"/>
            </a:br>
            <a:r>
              <a:rPr lang="en"/>
              <a:t>    - Do the counts make sense? Do the categories make sense?</a:t>
            </a:r>
            <a:endParaRPr/>
          </a:p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visualization in EDA?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1967950" y="2228750"/>
            <a:ext cx="7213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variable:</a:t>
            </a:r>
            <a:endParaRPr/>
          </a:p>
          <a:p>
            <a:pPr indent="-450850" lvl="0" marL="457200" rtl="0" algn="l">
              <a:spcBef>
                <a:spcPts val="320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Bar charts for </a:t>
            </a:r>
            <a:r>
              <a:rPr lang="en"/>
              <a:t>categories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Distribution plots for </a:t>
            </a:r>
            <a:r>
              <a:rPr lang="en"/>
              <a:t>continuous</a:t>
            </a:r>
            <a:r>
              <a:rPr lang="en"/>
              <a:t> variables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Histograms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Distributions</a:t>
            </a:r>
            <a:endParaRPr/>
          </a:p>
        </p:txBody>
      </p:sp>
      <p:sp>
        <p:nvSpPr>
          <p:cNvPr id="170" name="Google Shape;170;p26"/>
          <p:cNvSpPr txBox="1"/>
          <p:nvPr>
            <p:ph idx="2" type="body"/>
          </p:nvPr>
        </p:nvSpPr>
        <p:spPr>
          <a:xfrm>
            <a:off x="10299000" y="2228750"/>
            <a:ext cx="7213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+ variables:</a:t>
            </a:r>
            <a:endParaRPr/>
          </a:p>
          <a:p>
            <a:pPr indent="-450850" lvl="0" marL="457200" rtl="0" algn="l">
              <a:spcBef>
                <a:spcPts val="320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Scatterplot for </a:t>
            </a:r>
            <a:r>
              <a:rPr lang="en"/>
              <a:t>correlations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Scatterplot matrix for multiple variables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Heat map for </a:t>
            </a:r>
            <a:r>
              <a:rPr lang="en"/>
              <a:t>correlations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Boxplots and violin plots for one continuous variable across levels of one or more categorical variables</a:t>
            </a:r>
            <a:endParaRPr/>
          </a:p>
        </p:txBody>
      </p:sp>
      <p:sp>
        <p:nvSpPr>
          <p:cNvPr id="171" name="Google Shape;171;p26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E,J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Quality Checks using EDA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look for in the visualizations from an EDA?</a:t>
            </a:r>
            <a:endParaRPr/>
          </a:p>
          <a:p>
            <a:pPr indent="-450850" lvl="0" marL="457200" rtl="0" algn="l">
              <a:spcBef>
                <a:spcPts val="320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Do the values shown make sense?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If not, which values don’t make sense– look into them! Don’t just delete.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Does the number of values or points make sense?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Are there any unusual or unexpected patterns in the data?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Are there any patterns in the data at all?</a:t>
            </a:r>
            <a:endParaRPr/>
          </a:p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7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2376150" y="6314125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Types of Plots</a:t>
            </a:r>
            <a:endParaRPr sz="8000"/>
          </a:p>
        </p:txBody>
      </p:sp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28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J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3472" y="265200"/>
            <a:ext cx="11705150" cy="865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/>
          <p:nvPr/>
        </p:nvSpPr>
        <p:spPr>
          <a:xfrm>
            <a:off x="8982975" y="9054225"/>
            <a:ext cx="743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https://extremepresentation.com/wp-content/uploads/choosing-a-good-chart-09-1.pdf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J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1967950" y="858900"/>
            <a:ext cx="15468000" cy="8134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over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000000"/>
              </a:solidFill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Char char="-"/>
            </a:pPr>
            <a:r>
              <a:rPr b="0" lang="en" sz="3100">
                <a:solidFill>
                  <a:srgbClr val="000000"/>
                </a:solidFill>
              </a:rPr>
              <a:t>We will review examples in Python first, then share R code</a:t>
            </a:r>
            <a:endParaRPr b="0" sz="3100">
              <a:solidFill>
                <a:srgbClr val="000000"/>
              </a:solidFill>
            </a:endParaRPr>
          </a:p>
        </p:txBody>
      </p:sp>
      <p:sp>
        <p:nvSpPr>
          <p:cNvPr id="201" name="Google Shape;201;p30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Conveying</a:t>
            </a:r>
            <a:r>
              <a:rPr lang="en"/>
              <a:t> Information: Aesthetics</a:t>
            </a:r>
            <a:endParaRPr/>
          </a:p>
        </p:txBody>
      </p:sp>
      <p:sp>
        <p:nvSpPr>
          <p:cNvPr id="207" name="Google Shape;207;p3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1"/>
          <p:cNvSpPr txBox="1"/>
          <p:nvPr/>
        </p:nvSpPr>
        <p:spPr>
          <a:xfrm>
            <a:off x="2152375" y="2370875"/>
            <a:ext cx="157101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b="1" lang="en" sz="3800"/>
              <a:t>Position (x, y)</a:t>
            </a:r>
            <a:r>
              <a:rPr lang="en" sz="3800"/>
              <a:t> – usually the most accurate way to encode values</a:t>
            </a:r>
            <a:endParaRPr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b="1" lang="en" sz="3800"/>
              <a:t>Length/size</a:t>
            </a:r>
            <a:r>
              <a:rPr lang="en" sz="3800"/>
              <a:t> – bar length, point size, area, line width</a:t>
            </a:r>
            <a:endParaRPr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b="1" lang="en" sz="3800"/>
              <a:t>Orientation/angle</a:t>
            </a:r>
            <a:r>
              <a:rPr lang="en" sz="3800"/>
              <a:t> – less precise; used in some charts</a:t>
            </a:r>
            <a:endParaRPr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b="1" lang="en" sz="3800"/>
              <a:t>Shape</a:t>
            </a:r>
            <a:r>
              <a:rPr lang="en" sz="3800"/>
              <a:t> – categorical differences in scatterplots</a:t>
            </a:r>
            <a:endParaRPr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b="1" lang="en" sz="3800"/>
              <a:t>Texture/line style</a:t>
            </a:r>
            <a:r>
              <a:rPr lang="en" sz="3800"/>
              <a:t> – solid vs dashed, etc.</a:t>
            </a:r>
            <a:endParaRPr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b="1" lang="en" sz="3800"/>
              <a:t>Area / Volume </a:t>
            </a:r>
            <a:r>
              <a:rPr lang="en" sz="3800"/>
              <a:t> – encode magnitude in a given region / shape</a:t>
            </a:r>
            <a:endParaRPr sz="3800"/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SzPts val="3800"/>
              <a:buChar char="●"/>
            </a:pPr>
            <a:r>
              <a:rPr b="1" lang="en" sz="3800"/>
              <a:t>Color</a:t>
            </a:r>
            <a:r>
              <a:rPr lang="en" sz="3800"/>
              <a:t> – hue for categories; lightness/saturation for numeric magnitude</a:t>
            </a:r>
            <a:endParaRPr sz="3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</p:txBody>
      </p:sp>
      <p:sp>
        <p:nvSpPr>
          <p:cNvPr id="209" name="Google Shape;209;p31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J,E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1967950" y="858900"/>
            <a:ext cx="15468000" cy="17121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Communicating Time Series and Longitudinal Perspectives using </a:t>
            </a:r>
            <a:r>
              <a:rPr lang="en" sz="4900"/>
              <a:t>Visualization</a:t>
            </a:r>
            <a:endParaRPr sz="4900"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1967950" y="2783750"/>
            <a:ext cx="15696600" cy="6277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Time ALWAYS goes on the x-axis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Think carefully about what makes sense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Keep in mind that data from one individual is not </a:t>
            </a:r>
            <a:r>
              <a:rPr lang="en"/>
              <a:t>independent</a:t>
            </a:r>
            <a:endParaRPr/>
          </a:p>
          <a:p>
            <a:pPr indent="-450850" lvl="1" marL="914400" rtl="0" algn="l">
              <a:spcBef>
                <a:spcPts val="0"/>
              </a:spcBef>
              <a:spcAft>
                <a:spcPts val="0"/>
              </a:spcAft>
              <a:buSzPts val="3500"/>
              <a:buChar char="○"/>
            </a:pPr>
            <a:r>
              <a:rPr lang="en"/>
              <a:t>Be sure to show any dependence that you have in your data!</a:t>
            </a:r>
            <a:endParaRPr/>
          </a:p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rPr lang="en"/>
              <a:t>We’ve provided a few examples in R and Python for you to try.</a:t>
            </a:r>
            <a:endParaRPr/>
          </a:p>
        </p:txBody>
      </p:sp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1967950" y="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have fun with it, too!</a:t>
            </a:r>
            <a:endParaRPr/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1967950" y="8186375"/>
            <a:ext cx="15836400" cy="1815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Works Best with: </a:t>
            </a: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Categorical datasets with multiple labels or attributes per record </a:t>
            </a: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Overlapping groups or sets (e.g., co-occurring diseases, shared features) </a:t>
            </a:r>
            <a:endParaRPr sz="2100"/>
          </a:p>
          <a:p>
            <a:pPr indent="-361950" lvl="0" marL="457200" rtl="0" algn="just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Medium-to-large samples where intersections reveal meaningful patterns</a:t>
            </a:r>
            <a:endParaRPr sz="2100"/>
          </a:p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33" title="download-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0998" y="2015076"/>
            <a:ext cx="13037002" cy="586613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3"/>
          <p:cNvSpPr txBox="1"/>
          <p:nvPr/>
        </p:nvSpPr>
        <p:spPr>
          <a:xfrm>
            <a:off x="1967950" y="1472788"/>
            <a:ext cx="4222800" cy="6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34343"/>
                </a:solidFill>
              </a:rPr>
              <a:t>Let the data tell its story visually.</a:t>
            </a:r>
            <a:endParaRPr sz="21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" sz="2100">
                <a:solidFill>
                  <a:srgbClr val="434343"/>
                </a:solidFill>
              </a:rPr>
              <a:t>Each bar shows how many patients share certain condition combinations.</a:t>
            </a:r>
            <a:endParaRPr sz="21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" sz="2100">
                <a:solidFill>
                  <a:srgbClr val="434343"/>
                </a:solidFill>
              </a:rPr>
              <a:t>Each dot line connects those co-occurring conditions, like a “friend group” of diseases.</a:t>
            </a:r>
            <a:endParaRPr sz="21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Char char="●"/>
            </a:pPr>
            <a:r>
              <a:rPr lang="en" sz="2100">
                <a:solidFill>
                  <a:srgbClr val="434343"/>
                </a:solidFill>
              </a:rPr>
              <a:t>The bold red highlights the most frequent intersections, clear and confident.</a:t>
            </a:r>
            <a:endParaRPr sz="21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434343"/>
              </a:solidFill>
            </a:endParaRPr>
          </a:p>
        </p:txBody>
      </p:sp>
      <p:sp>
        <p:nvSpPr>
          <p:cNvPr id="226" name="Google Shape;226;p33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and Suggested Resources</a:t>
            </a:r>
            <a:endParaRPr/>
          </a:p>
        </p:txBody>
      </p:sp>
      <p:sp>
        <p:nvSpPr>
          <p:cNvPr id="232" name="Google Shape;232;p34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i="1" lang="en" sz="2200"/>
              <a:t>Communicating with Data: The Art of Writing for Data Science</a:t>
            </a:r>
            <a:r>
              <a:rPr lang="en" sz="2200"/>
              <a:t> by D Nolan and S Stoudt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i="1" lang="en" sz="2200"/>
              <a:t>Effective Data Storytelling: How to Drive Change with Data, Narrative, and Visuals </a:t>
            </a:r>
            <a:r>
              <a:rPr lang="en" sz="2200"/>
              <a:t>by Brent Dykes</a:t>
            </a:r>
            <a:endParaRPr i="1"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i="1" lang="en" sz="2200"/>
              <a:t>Fundamentals of Data Visualization</a:t>
            </a:r>
            <a:r>
              <a:rPr lang="en" sz="2200"/>
              <a:t> by Claus Wilke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i="1" lang="en" sz="2200"/>
              <a:t>Storytelling with Data: A Data Visualization Guide for Business Professionals</a:t>
            </a:r>
            <a:r>
              <a:rPr lang="en" sz="2200"/>
              <a:t> by Cole Nussbaumer Knaflic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i="1" lang="en" sz="2200"/>
              <a:t>Good Charts: The HBR Guide to Making Smarter, More Persuasive Data Visualizations</a:t>
            </a:r>
            <a:r>
              <a:rPr lang="en" sz="2200"/>
              <a:t> by Scott Bernator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i="1" lang="en" sz="2200"/>
              <a:t>The Visual Display of Quantitative Information</a:t>
            </a:r>
            <a:r>
              <a:rPr lang="en" sz="2200"/>
              <a:t> by Edward Tufte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i="1" lang="en" sz="2200"/>
              <a:t>The Functional Art: An introduction to information graphics and visualization</a:t>
            </a:r>
            <a:r>
              <a:rPr lang="en" sz="2200"/>
              <a:t> by Alberto Cairo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 Visualization Catalog: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h</a:t>
            </a:r>
            <a:r>
              <a:rPr lang="en" sz="2200" u="sng">
                <a:solidFill>
                  <a:schemeClr val="hlink"/>
                </a:solidFill>
                <a:hlinkClick r:id="rId4"/>
              </a:rPr>
              <a:t>ttps://datavizcatalogue.com/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Flowing Data: </a:t>
            </a:r>
            <a:r>
              <a:rPr lang="en" sz="2200" u="sng">
                <a:solidFill>
                  <a:schemeClr val="hlink"/>
                </a:solidFill>
                <a:hlinkClick r:id="rId5"/>
              </a:rPr>
              <a:t>https://flowingdata.com/</a:t>
            </a:r>
            <a:r>
              <a:rPr lang="en" sz="2200"/>
              <a:t>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Information is Beautiful: </a:t>
            </a:r>
            <a:r>
              <a:rPr lang="en" sz="2200" u="sng">
                <a:solidFill>
                  <a:schemeClr val="hlink"/>
                </a:solidFill>
                <a:hlinkClick r:id="rId6"/>
              </a:rPr>
              <a:t>https://informationisbeautiful.net/</a:t>
            </a:r>
            <a:r>
              <a:rPr lang="en" sz="2200"/>
              <a:t>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For R: ggplot2 documentation: </a:t>
            </a:r>
            <a:r>
              <a:rPr lang="en" sz="2200" u="sng">
                <a:solidFill>
                  <a:schemeClr val="hlink"/>
                </a:solidFill>
                <a:hlinkClick r:id="rId7"/>
              </a:rPr>
              <a:t>https://ggplot2.tidyverse.org/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" sz="2200"/>
              <a:t>For Python: Python Graph Gallery: </a:t>
            </a:r>
            <a:r>
              <a:rPr lang="en" sz="2200" u="sng">
                <a:solidFill>
                  <a:schemeClr val="hlink"/>
                </a:solidFill>
                <a:hlinkClick r:id="rId8"/>
              </a:rPr>
              <a:t>https://python-graph-gallery.com/</a:t>
            </a:r>
            <a:r>
              <a:rPr lang="en" sz="2200"/>
              <a:t> </a:t>
            </a:r>
            <a:endParaRPr sz="2200"/>
          </a:p>
        </p:txBody>
      </p:sp>
      <p:sp>
        <p:nvSpPr>
          <p:cNvPr id="233" name="Google Shape;233;p34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34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J,E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help us plan future workshops</a:t>
            </a:r>
            <a:endParaRPr/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1967950" y="2228750"/>
            <a:ext cx="9771600" cy="67881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We’d appreciate your feedback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Thanks to NC TraCS for supporting this work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"/>
              <a:t>Thank you for </a:t>
            </a:r>
            <a:r>
              <a:rPr lang="en"/>
              <a:t>attending</a:t>
            </a:r>
            <a:r>
              <a:rPr lang="en"/>
              <a:t>!</a:t>
            </a:r>
            <a:endParaRPr/>
          </a:p>
        </p:txBody>
      </p:sp>
      <p:sp>
        <p:nvSpPr>
          <p:cNvPr id="241" name="Google Shape;241;p35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2" name="Google Shape;242;p35" title="image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7100" y="3243575"/>
            <a:ext cx="4683400" cy="46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 txBox="1"/>
          <p:nvPr/>
        </p:nvSpPr>
        <p:spPr>
          <a:xfrm>
            <a:off x="845900" y="9713425"/>
            <a:ext cx="63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E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Rectangle">
  <a:themeElements>
    <a:clrScheme name="Coral">
      <a:dk1>
        <a:srgbClr val="CC0000"/>
      </a:dk1>
      <a:lt1>
        <a:srgbClr val="FFFFFF"/>
      </a:lt1>
      <a:dk2>
        <a:srgbClr val="6D6D6D"/>
      </a:dk2>
      <a:lt2>
        <a:srgbClr val="C3C3C3"/>
      </a:lt2>
      <a:accent1>
        <a:srgbClr val="990000"/>
      </a:accent1>
      <a:accent2>
        <a:srgbClr val="008473"/>
      </a:accent2>
      <a:accent3>
        <a:srgbClr val="427E93"/>
      </a:accent3>
      <a:accent4>
        <a:srgbClr val="D14905"/>
      </a:accent4>
      <a:accent5>
        <a:srgbClr val="FAC800"/>
      </a:accent5>
      <a:accent6>
        <a:srgbClr val="6F7D1C"/>
      </a:accent6>
      <a:hlink>
        <a:srgbClr val="CC0000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